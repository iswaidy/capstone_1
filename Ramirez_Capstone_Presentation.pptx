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4" r:id="rId4"/>
    <p:sldId id="257" r:id="rId5"/>
    <p:sldId id="258" r:id="rId6"/>
    <p:sldId id="259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6E341F-53C7-47BB-9EE4-228D374217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50DAE3-ADC8-4767-BA71-0638A8DA18B1}">
      <dgm:prSet/>
      <dgm:spPr/>
      <dgm:t>
        <a:bodyPr/>
        <a:lstStyle/>
        <a:p>
          <a:r>
            <a:rPr lang="en-US" dirty="0"/>
            <a:t>I was assigned to conduct a sales analysis for </a:t>
          </a:r>
          <a:r>
            <a:rPr lang="en-US" dirty="0" err="1"/>
            <a:t>EmporiUm's</a:t>
          </a:r>
          <a:r>
            <a:rPr lang="en-US" dirty="0"/>
            <a:t> Maryland territory, part of the Northeast region under Regional Director Michael Jarvis.</a:t>
          </a:r>
        </a:p>
      </dgm:t>
    </dgm:pt>
    <dgm:pt modelId="{7355E463-04D8-4B90-A854-BACBB1FE9691}" type="parTrans" cxnId="{C23AAE7F-12D4-4A69-A043-334A924B4CAE}">
      <dgm:prSet/>
      <dgm:spPr/>
      <dgm:t>
        <a:bodyPr/>
        <a:lstStyle/>
        <a:p>
          <a:endParaRPr lang="en-US"/>
        </a:p>
      </dgm:t>
    </dgm:pt>
    <dgm:pt modelId="{A7281691-4EC9-4AF4-A496-F67650D5D62C}" type="sibTrans" cxnId="{C23AAE7F-12D4-4A69-A043-334A924B4CAE}">
      <dgm:prSet/>
      <dgm:spPr/>
      <dgm:t>
        <a:bodyPr/>
        <a:lstStyle/>
        <a:p>
          <a:endParaRPr lang="en-US"/>
        </a:p>
      </dgm:t>
    </dgm:pt>
    <dgm:pt modelId="{D4ADD544-1A84-417B-B0D2-81732242B7D2}">
      <dgm:prSet/>
      <dgm:spPr/>
      <dgm:t>
        <a:bodyPr/>
        <a:lstStyle/>
        <a:p>
          <a:r>
            <a:rPr lang="en-US" dirty="0"/>
            <a:t>Sales manager Shruti Reddy requested this analysis to better understand Maryland's in-store performance heading into next quarter.</a:t>
          </a:r>
        </a:p>
      </dgm:t>
    </dgm:pt>
    <dgm:pt modelId="{AE656C19-BF76-464E-91E4-02AC28A7E95C}" type="parTrans" cxnId="{45226239-0EDB-45B0-901C-A5392F2789AE}">
      <dgm:prSet/>
      <dgm:spPr/>
      <dgm:t>
        <a:bodyPr/>
        <a:lstStyle/>
        <a:p>
          <a:endParaRPr lang="en-US"/>
        </a:p>
      </dgm:t>
    </dgm:pt>
    <dgm:pt modelId="{6D213FA1-1EEF-4E03-A5BB-EA5BF4E7A416}" type="sibTrans" cxnId="{45226239-0EDB-45B0-901C-A5392F2789AE}">
      <dgm:prSet/>
      <dgm:spPr/>
      <dgm:t>
        <a:bodyPr/>
        <a:lstStyle/>
        <a:p>
          <a:endParaRPr lang="en-US"/>
        </a:p>
      </dgm:t>
    </dgm:pt>
    <dgm:pt modelId="{F6C6B9E5-F698-48C5-B6B0-BF7F4BA11B9A}" type="pres">
      <dgm:prSet presAssocID="{476E341F-53C7-47BB-9EE4-228D3742174B}" presName="root" presStyleCnt="0">
        <dgm:presLayoutVars>
          <dgm:dir/>
          <dgm:resizeHandles val="exact"/>
        </dgm:presLayoutVars>
      </dgm:prSet>
      <dgm:spPr/>
    </dgm:pt>
    <dgm:pt modelId="{AEB75CBE-0C6D-48B4-859A-53469E28D283}" type="pres">
      <dgm:prSet presAssocID="{8550DAE3-ADC8-4767-BA71-0638A8DA18B1}" presName="compNode" presStyleCnt="0"/>
      <dgm:spPr/>
    </dgm:pt>
    <dgm:pt modelId="{B1BB571F-B4BA-4690-86D0-B188C41A05F6}" type="pres">
      <dgm:prSet presAssocID="{8550DAE3-ADC8-4767-BA71-0638A8DA18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AE16EDDA-CE61-4154-A871-E000A7AA014D}" type="pres">
      <dgm:prSet presAssocID="{8550DAE3-ADC8-4767-BA71-0638A8DA18B1}" presName="spaceRect" presStyleCnt="0"/>
      <dgm:spPr/>
    </dgm:pt>
    <dgm:pt modelId="{9AA7EF1F-AFAE-4ABD-BD24-E0E709FB67EF}" type="pres">
      <dgm:prSet presAssocID="{8550DAE3-ADC8-4767-BA71-0638A8DA18B1}" presName="textRect" presStyleLbl="revTx" presStyleIdx="0" presStyleCnt="2">
        <dgm:presLayoutVars>
          <dgm:chMax val="1"/>
          <dgm:chPref val="1"/>
        </dgm:presLayoutVars>
      </dgm:prSet>
      <dgm:spPr/>
    </dgm:pt>
    <dgm:pt modelId="{12CD970C-547A-487E-82FC-E6BF6A67DC17}" type="pres">
      <dgm:prSet presAssocID="{A7281691-4EC9-4AF4-A496-F67650D5D62C}" presName="sibTrans" presStyleCnt="0"/>
      <dgm:spPr/>
    </dgm:pt>
    <dgm:pt modelId="{3936D6D7-740A-45CB-A72E-0857E2F4F5AF}" type="pres">
      <dgm:prSet presAssocID="{D4ADD544-1A84-417B-B0D2-81732242B7D2}" presName="compNode" presStyleCnt="0"/>
      <dgm:spPr/>
    </dgm:pt>
    <dgm:pt modelId="{54B77BCB-0094-4D9D-AF39-B300FCF6A4F8}" type="pres">
      <dgm:prSet presAssocID="{D4ADD544-1A84-417B-B0D2-81732242B7D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B7AA010-8A91-4FCB-8C54-B2DAD01C30ED}" type="pres">
      <dgm:prSet presAssocID="{D4ADD544-1A84-417B-B0D2-81732242B7D2}" presName="spaceRect" presStyleCnt="0"/>
      <dgm:spPr/>
    </dgm:pt>
    <dgm:pt modelId="{00874766-4FA1-420B-B015-7BCF00A2E0E9}" type="pres">
      <dgm:prSet presAssocID="{D4ADD544-1A84-417B-B0D2-81732242B7D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B43E402-34D4-428C-B734-190CE0EFA162}" type="presOf" srcId="{D4ADD544-1A84-417B-B0D2-81732242B7D2}" destId="{00874766-4FA1-420B-B015-7BCF00A2E0E9}" srcOrd="0" destOrd="0" presId="urn:microsoft.com/office/officeart/2018/2/layout/IconLabelList"/>
    <dgm:cxn modelId="{45226239-0EDB-45B0-901C-A5392F2789AE}" srcId="{476E341F-53C7-47BB-9EE4-228D3742174B}" destId="{D4ADD544-1A84-417B-B0D2-81732242B7D2}" srcOrd="1" destOrd="0" parTransId="{AE656C19-BF76-464E-91E4-02AC28A7E95C}" sibTransId="{6D213FA1-1EEF-4E03-A5BB-EA5BF4E7A416}"/>
    <dgm:cxn modelId="{C23AAE7F-12D4-4A69-A043-334A924B4CAE}" srcId="{476E341F-53C7-47BB-9EE4-228D3742174B}" destId="{8550DAE3-ADC8-4767-BA71-0638A8DA18B1}" srcOrd="0" destOrd="0" parTransId="{7355E463-04D8-4B90-A854-BACBB1FE9691}" sibTransId="{A7281691-4EC9-4AF4-A496-F67650D5D62C}"/>
    <dgm:cxn modelId="{0955AFEF-7EAF-436B-B4AA-649CEF9108B5}" type="presOf" srcId="{476E341F-53C7-47BB-9EE4-228D3742174B}" destId="{F6C6B9E5-F698-48C5-B6B0-BF7F4BA11B9A}" srcOrd="0" destOrd="0" presId="urn:microsoft.com/office/officeart/2018/2/layout/IconLabelList"/>
    <dgm:cxn modelId="{87C343F8-A27A-4A01-B0C2-EF21497B5B3D}" type="presOf" srcId="{8550DAE3-ADC8-4767-BA71-0638A8DA18B1}" destId="{9AA7EF1F-AFAE-4ABD-BD24-E0E709FB67EF}" srcOrd="0" destOrd="0" presId="urn:microsoft.com/office/officeart/2018/2/layout/IconLabelList"/>
    <dgm:cxn modelId="{3839311A-0B7F-4537-89C4-27C6488C4F98}" type="presParOf" srcId="{F6C6B9E5-F698-48C5-B6B0-BF7F4BA11B9A}" destId="{AEB75CBE-0C6D-48B4-859A-53469E28D283}" srcOrd="0" destOrd="0" presId="urn:microsoft.com/office/officeart/2018/2/layout/IconLabelList"/>
    <dgm:cxn modelId="{C044E912-DEA0-4933-A240-74551CF28E0E}" type="presParOf" srcId="{AEB75CBE-0C6D-48B4-859A-53469E28D283}" destId="{B1BB571F-B4BA-4690-86D0-B188C41A05F6}" srcOrd="0" destOrd="0" presId="urn:microsoft.com/office/officeart/2018/2/layout/IconLabelList"/>
    <dgm:cxn modelId="{D94CBA7B-13F7-40EC-A825-9BB0D908767B}" type="presParOf" srcId="{AEB75CBE-0C6D-48B4-859A-53469E28D283}" destId="{AE16EDDA-CE61-4154-A871-E000A7AA014D}" srcOrd="1" destOrd="0" presId="urn:microsoft.com/office/officeart/2018/2/layout/IconLabelList"/>
    <dgm:cxn modelId="{418A3031-9012-4973-9C77-A6AAF85ABFA0}" type="presParOf" srcId="{AEB75CBE-0C6D-48B4-859A-53469E28D283}" destId="{9AA7EF1F-AFAE-4ABD-BD24-E0E709FB67EF}" srcOrd="2" destOrd="0" presId="urn:microsoft.com/office/officeart/2018/2/layout/IconLabelList"/>
    <dgm:cxn modelId="{E5E9D8BE-BCE8-4634-B740-6E156F74F1E1}" type="presParOf" srcId="{F6C6B9E5-F698-48C5-B6B0-BF7F4BA11B9A}" destId="{12CD970C-547A-487E-82FC-E6BF6A67DC17}" srcOrd="1" destOrd="0" presId="urn:microsoft.com/office/officeart/2018/2/layout/IconLabelList"/>
    <dgm:cxn modelId="{F511D732-4999-414A-AAE3-BF50E745F997}" type="presParOf" srcId="{F6C6B9E5-F698-48C5-B6B0-BF7F4BA11B9A}" destId="{3936D6D7-740A-45CB-A72E-0857E2F4F5AF}" srcOrd="2" destOrd="0" presId="urn:microsoft.com/office/officeart/2018/2/layout/IconLabelList"/>
    <dgm:cxn modelId="{66D9B5AC-AEF0-40F4-B004-A77CD5676154}" type="presParOf" srcId="{3936D6D7-740A-45CB-A72E-0857E2F4F5AF}" destId="{54B77BCB-0094-4D9D-AF39-B300FCF6A4F8}" srcOrd="0" destOrd="0" presId="urn:microsoft.com/office/officeart/2018/2/layout/IconLabelList"/>
    <dgm:cxn modelId="{98524D54-581A-4D7A-8F12-281CAE13A960}" type="presParOf" srcId="{3936D6D7-740A-45CB-A72E-0857E2F4F5AF}" destId="{3B7AA010-8A91-4FCB-8C54-B2DAD01C30ED}" srcOrd="1" destOrd="0" presId="urn:microsoft.com/office/officeart/2018/2/layout/IconLabelList"/>
    <dgm:cxn modelId="{89AC7D77-F84C-4793-834C-0B5053A3829C}" type="presParOf" srcId="{3936D6D7-740A-45CB-A72E-0857E2F4F5AF}" destId="{00874766-4FA1-420B-B015-7BCF00A2E0E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BB571F-B4BA-4690-86D0-B188C41A05F6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7EF1F-AFAE-4ABD-BD24-E0E709FB67EF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 was assigned to conduct a sales analysis for </a:t>
          </a:r>
          <a:r>
            <a:rPr lang="en-US" sz="1500" kern="1200" dirty="0" err="1"/>
            <a:t>EmporiUm's</a:t>
          </a:r>
          <a:r>
            <a:rPr lang="en-US" sz="1500" kern="1200" dirty="0"/>
            <a:t> Maryland territory, part of the Northeast region under Regional Director Michael Jarvis.</a:t>
          </a:r>
        </a:p>
      </dsp:txBody>
      <dsp:txXfrm>
        <a:off x="765914" y="2943510"/>
        <a:ext cx="4320000" cy="720000"/>
      </dsp:txXfrm>
    </dsp:sp>
    <dsp:sp modelId="{54B77BCB-0094-4D9D-AF39-B300FCF6A4F8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74766-4FA1-420B-B015-7BCF00A2E0E9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Sales manager Shruti Reddy requested this analysis to better understand Maryland's in-store performance heading into next quarter.</a:t>
          </a:r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FCA1-D277-18F5-4E6F-77D094C3A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F571-96FD-6C57-F4AF-E60E64FA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4198-266B-98FD-9F8E-7B393D37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BDFD5-864D-3D88-2D03-2951293D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8EAA-BF9B-CE85-ECAE-3C81039B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9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F12B-6DFD-E65D-8FC9-FF47C9C9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08A3-C973-B94B-D68A-A2F102B80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447B-7B31-7EB1-A15C-648E29F8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A2345-5C67-452E-6151-5FBCE609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E853-9B84-A0C0-67C6-423BF11D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9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751-A490-AAC8-5281-21E4A0F3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49E28-E7A1-B094-5B09-0EEA7668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B0336-C43A-D466-5B93-60904E39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A50A-65B5-F773-2B5D-8A72DCA9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29C27-D3FF-C3FA-DC36-882C6877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8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E553-2FF9-3662-BAB0-BECB73B8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646-7D0F-16C9-9D6B-B40EFA0A6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B860E-2378-8043-359C-326A503E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7AEC-97A3-9768-03CA-26E6F460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ADD76-167D-B41B-B86F-F6CB6A8E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9730D-25CA-0157-03B9-A9416178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7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AA10-3B64-9C73-CFC9-66299681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4F93C-5537-C853-091A-3E806A8BA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693A8-09D4-10C1-9367-9B48B98A1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F642C-84DD-9C7A-D3ED-9FF30240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3CEC6-652C-26BA-8882-67A03923E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BF743-728A-F7A0-1F12-89A849C4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F3D5E-4C35-B9FB-C576-5A25B16B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7455B-2E8B-AC40-B3E7-95576642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1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FBED-4724-6207-6EF6-30AE3F10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E6D72-8E72-F993-9B56-D0948CD8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E83E0-79BA-892E-0317-49E3347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6806-808B-581E-E120-819F7BEA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3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3034D-5F7D-CBB2-6D97-08B96581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D4673-5090-0928-1C93-2F3AED20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F1CC-89D8-834F-4375-61D80818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8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B932-F601-0189-6344-26F538DD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E482-2BB5-D22A-06FF-9458A776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07A90-DDC4-695D-2C95-D0551C6AD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4DE06-9566-8782-8E3B-846E0280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CB2D1-6FF5-171D-2E36-74A6FE5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9656B-D91C-945C-D7E9-7514886D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2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AB2F-AFFA-48E5-9359-A8379BF3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C8F1F-8F14-5E4D-12BD-8A96F6AC1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959A8-ED17-C637-8EDC-DA3D78147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0BF76-8C30-4622-AECE-77FF1A04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6533-BEBC-4376-B133-3C9C8A94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9BCE2-22FD-FB97-6B9F-2CBFC393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5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E066-E310-80D5-6E8E-2D8CB8EA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3DCEA-8EE8-93B7-B5B2-1E66BA689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49DCB-1D28-9E8E-1622-0C15C9D7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5837-328C-0D8F-4622-75458C9F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B876-59A8-CC53-DE4A-90B13A6E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3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661A7-983A-4506-50B5-792C851F1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7A1A4-7861-1495-4515-97E17C03B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4BCC-EF35-EFB7-E52C-698B45AF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33F4-1766-2B04-1AF2-AE83414E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A96C9-4ACE-6E9F-DEA5-AF1A5435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6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04948-36B4-EB56-C7CF-EF23E44B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5CA20-2037-36D3-8229-17C14360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4BE5-0B85-0A7D-7D41-6B4BE0CC4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7795-2645-66F3-5585-3C84E8913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0413C-DDBF-ED86-A252-92D5ECA79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0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76F8471E-59B4-716A-455A-C90B9E747A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FF78D2-AFC5-C86A-11EB-8456A923B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Data Analytics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DB69B-E246-D0F0-555E-236243904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Cris Ramirez</a:t>
            </a:r>
          </a:p>
        </p:txBody>
      </p:sp>
    </p:spTree>
    <p:extLst>
      <p:ext uri="{BB962C8B-B14F-4D97-AF65-F5344CB8AC3E}">
        <p14:creationId xmlns:p14="http://schemas.microsoft.com/office/powerpoint/2010/main" val="319665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B01E8-B568-1EFA-419D-9152D523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F7EB0C-F8D7-BBD0-352D-57F75196CC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88792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273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134A7-8080-CBDA-D5DA-DC875927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Sales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D12227-F742-B5FE-802D-13CBC09F6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total revenue overall for sales in the assigned territory, plus the start date and end date that tell you what period the data covers?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total revenue overall for sales in the assigned territory, plus the start date and end date that tell you what period the data covers?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comparison of total revenue for the specific sales territory and the region it belongs to.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number of transactions per month and average transaction size by product category for the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provide a ranking of in-store sales performance by each store in the sales territory, or a ranking of online sales performance by state within an online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your recommendation for where to focus sales attention in the next quarter? </a:t>
            </a:r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66363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AA0E91-312C-34E9-963E-1C7A9B03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total revenue overall for sales in the assigned territory, plus the start date and end date that tell you what period the data covers?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2904-CD47-DF5A-23C4-AB9FC3F1E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6C435-2E3C-33F8-4E57-BFA9CE737E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614EF3-EC45-20D1-8DF4-6C10ACC4A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5F2037-8F24-746F-3241-F0E4136818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3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2D70-70CA-ECE6-781C-1EB7FE3E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FA1589-F1C3-B2FF-5E37-0B6FACC8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month by month revenue breakdown 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63F80-0CCA-B00A-2C9B-BA3F0A34C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7FD10-81FE-2572-4CCA-0CC779B899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3739D1-0B74-8131-4AE4-A3D2812ED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ADA2BB-8538-5043-5729-7658117020A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9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56C8-6EC8-4A9B-9F67-C1DC0B23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52E67-DEC4-BA06-18E9-D7972F56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Provide a comparison of total revenue for the specific sales territory and the region it belongs to.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4CE91-5525-1ABC-D10A-C5FA3B97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F6547-F0F6-9048-5477-1A595DA200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DBED5-B1DA-010B-90A4-F91E1DE15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49867E-C6F7-09DD-05F1-6B75EABAE1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0FA9-CDF8-75B2-E92A-4F097CB5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FA274C-F9BA-9031-1DB3-A9430AAC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number of transactions per month and average transaction size by product category 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A8A28-295C-4DB3-ECD4-B81ED17DF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A7352-17ED-621E-CDCA-5160B057FB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9A4A8D-D02D-5615-3116-81116EA08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06D69-B603-A2C6-232E-5C4E2D9F15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44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03DD-5EF9-03CA-2147-2C6C1632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23F294-63A0-E7F3-6A95-7E8E1AFB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Can you provide a ranking of in-store sales performance by each store in the sales territory, or a ranking of online sales performance by state within an online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B7D5B-F11A-2179-AB5C-2015F0E4D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92B68-8BB3-020B-B7FD-53330EC7A1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BF1932-D49E-554A-1C5A-BC84EAAC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04C49-9BF9-8A8C-A51B-CD425749196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74D9A-5C83-5EAA-3D5F-C0ACEC00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E9130-D7A2-EAFF-5930-140945D8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your recommendation for where to focus sales attention in the next quarter?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87F74-924C-F350-C23F-A4DA6E61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BDB08-E118-8D54-80F5-D01F52EA0D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E7CB86-E8D4-7016-0239-A9448B03A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FD776D-C7AE-A648-593C-958BF3F043A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6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03E1130-C6B1-DAA8-0797-3A58E4BB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F62143-A563-3020-8DE3-CDEDB69CA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8D2A4F-C1D4-C994-03E6-3651234A1B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8F48E83-DF68-56DA-6537-511F510E4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PivotChart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300919-96F9-6B2A-E878-E5AB37625C1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4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157256-FED8-C804-D57A-85BB06E7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80D99-22D0-7D35-26F0-37402E63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7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8A01FE-F9FE-4DE1-9C4F-D56BE8A0E6A5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3b63e66d-05c3-41ee-883f-bd67c09b2e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338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Data Analytics  Capstone Project</vt:lpstr>
      <vt:lpstr>Introduction</vt:lpstr>
      <vt:lpstr>Sales Analysis</vt:lpstr>
      <vt:lpstr>What is total revenue overall for sales in the assigned territory, plus the start date and end date that tell you what period the data covers?</vt:lpstr>
      <vt:lpstr>What is the month by month revenue breakdown for the sales territory? </vt:lpstr>
      <vt:lpstr>Provide a comparison of total revenue for the specific sales territory and the region it belongs to. </vt:lpstr>
      <vt:lpstr>What is the number of transactions per month and average transaction size by product category for the sales territory? </vt:lpstr>
      <vt:lpstr>Can you provide a ranking of in-store sales performance by each store in the sales territory, or a ranking of online sales performance by state within an online sales territory? </vt:lpstr>
      <vt:lpstr>What is your recommendation for where to focus sales attention in the next quarter? </vt:lpstr>
      <vt:lpstr>Visualization</vt:lpstr>
      <vt:lpstr>GitHub Repository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Deodat P. Sharma</dc:creator>
  <cp:lastModifiedBy>cris ramirez</cp:lastModifiedBy>
  <cp:revision>6</cp:revision>
  <dcterms:created xsi:type="dcterms:W3CDTF">2026-04-29T09:01:01Z</dcterms:created>
  <dcterms:modified xsi:type="dcterms:W3CDTF">2026-04-30T05:18:23Z</dcterms:modified>
</cp:coreProperties>
</file>